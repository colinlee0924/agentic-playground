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20040"/>
            <a:ext cx="29260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914400"/>
            <a:ext cx="8412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2560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CLI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A7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工作流程與實戰應用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 •  Skills  •  Commands  •  Hooks  •  Marketplace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x AI Task Force · DevOps Division · M公司 · 2026.03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今天的議程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143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伺服器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749040" y="1143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連接外部工具與資料源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0" y="1143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技能系統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74904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漸進式載入的專業能力封裝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315200" y="1737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2331720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231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Commands 斜線指令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74904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可複用的任務模板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315200" y="2331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2926080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1752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 生命週期鉤子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3749040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事件驅動的確定性控制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315200" y="29260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40080" y="3520440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61188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7160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 外掛市集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374904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打包、分享、選擇性安裝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315200" y="3520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06240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371600" y="4114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團隊導入建議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374904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從哪裡開始？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7315200" y="41148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CLI 是什麼？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官方的 CLI 代理工具，在終端機中直接委派編碼任務給 Claude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08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50876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45920"/>
            <a:ext cx="685800" cy="685800"/>
          </a:xfrm>
          <a:prstGeom prst="ellipse">
            <a:avLst/>
          </a:prstGeom>
          <a:solidFill>
            <a:srgbClr val="E8F4F8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外部工具連接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48840" y="1371600"/>
            <a:ext cx="1508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148840" y="1371600"/>
            <a:ext cx="1508760" cy="4572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12" name="Shape 9"/>
          <p:cNvSpPr/>
          <p:nvPr/>
        </p:nvSpPr>
        <p:spPr>
          <a:xfrm>
            <a:off x="2560320" y="1645920"/>
            <a:ext cx="685800" cy="685800"/>
          </a:xfrm>
          <a:prstGeom prst="ellipse">
            <a:avLst/>
          </a:prstGeom>
          <a:solidFill>
            <a:srgbClr val="E8F4F8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92" y="17373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4884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14884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能力封裝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840480" y="1371600"/>
            <a:ext cx="1508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840480" y="1371600"/>
            <a:ext cx="150876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Shape 14"/>
          <p:cNvSpPr/>
          <p:nvPr/>
        </p:nvSpPr>
        <p:spPr>
          <a:xfrm>
            <a:off x="4251960" y="1645920"/>
            <a:ext cx="685800" cy="685800"/>
          </a:xfrm>
          <a:prstGeom prst="ellipse">
            <a:avLst/>
          </a:prstGeom>
          <a:solidFill>
            <a:srgbClr val="E8F4F8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7373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4048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384048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任務模板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532120" y="1371600"/>
            <a:ext cx="1508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532120" y="1371600"/>
            <a:ext cx="1508760" cy="45720"/>
          </a:xfrm>
          <a:prstGeom prst="rect">
            <a:avLst/>
          </a:prstGeom>
          <a:solidFill>
            <a:srgbClr val="C67A3C"/>
          </a:solidFill>
          <a:ln/>
        </p:spPr>
      </p:sp>
      <p:sp>
        <p:nvSpPr>
          <p:cNvPr id="24" name="Shape 19"/>
          <p:cNvSpPr/>
          <p:nvPr/>
        </p:nvSpPr>
        <p:spPr>
          <a:xfrm>
            <a:off x="5943600" y="1645920"/>
            <a:ext cx="685800" cy="685800"/>
          </a:xfrm>
          <a:prstGeom prst="ellipse">
            <a:avLst/>
          </a:prstGeom>
          <a:solidFill>
            <a:srgbClr val="E8F4F8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73736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3212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7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53212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生命週期控制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223760" y="1371600"/>
            <a:ext cx="1508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223760" y="1371600"/>
            <a:ext cx="1508760" cy="457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0" name="Shape 24"/>
          <p:cNvSpPr/>
          <p:nvPr/>
        </p:nvSpPr>
        <p:spPr>
          <a:xfrm>
            <a:off x="7635240" y="1645920"/>
            <a:ext cx="685800" cy="685800"/>
          </a:xfrm>
          <a:prstGeom prst="ellipse">
            <a:avLst/>
          </a:prstGeom>
          <a:solidFill>
            <a:srgbClr val="E8F4F8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73736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2376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722376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分享與安裝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8B7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三大設計決策：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檔案系統即真相  ×  漸進式載入  ×  Agent Skills 開放標準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— Model Context Protocol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Claude Code 連接到任何外部工具與資料源的開放協議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39319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運作方式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設定位置：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 或 .mcp.json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傳輸方式：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SSE / stdio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工具命名：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mcp__&lt;server&gt;__&lt;tool&gt;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自動發現：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超過 context 10% 時啟用 Tool Search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類比：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像是 USB — 即插即用的外部硬體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114800" cy="3017520"/>
          </a:xfrm>
          <a:prstGeom prst="rect">
            <a:avLst/>
          </a:prstGeom>
          <a:solidFill>
            <a:srgbClr val="2B2D3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A6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實戰案例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46320" y="169164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JIRA MCP — 讓 Claude 操作 JIRA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jira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npx @mcp/jira-server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GitHub MCP — PR/Issue 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github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npx @mcp/server-github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Notion — 遠端 HTTP 連線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--transport http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notion https://mcp.notion.com/mcp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— 團隊共享配置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377440"/>
          </a:xfrm>
          <a:prstGeom prst="rect">
            <a:avLst/>
          </a:prstGeom>
          <a:solidFill>
            <a:srgbClr val="2B2D3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A6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專案根目錄  .mcp.json  →  版控共享給所有團隊成員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"jira":   { "command": "npx", "args": ["-y", "@mcp/jira-server"]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"github": { "command": "npx", "args": ["-y", "@mcp/server-github"]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"notion": { "type": "http", "url": "https://mcp.notion.com/mcp"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520440"/>
            <a:ext cx="2697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3520440"/>
            <a:ext cx="2697480" cy="4572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一人設定，全隊受益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後所有人自動生效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3520440"/>
            <a:ext cx="2697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3520440"/>
            <a:ext cx="2697480" cy="4572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權限可控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931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 中可用 allow/deny 精確控制每個 MCP 工具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520440"/>
            <a:ext cx="2697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520440"/>
            <a:ext cx="2697480" cy="4572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自動發現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931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工具超過 context window 10% 時啟用 Tool Search 按需載入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8B7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— 漸進式載入的專業能力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686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檔案 = 一個自包含的領域專家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37360" y="1188720"/>
            <a:ext cx="347472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2D8B7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87452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7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1:</a:t>
            </a:r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索引元資料 (Metadata)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03520" y="118872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69280" y="1234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載入時機：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啟動時 </a:t>
            </a:r>
            <a:pPr indent="0" marL="0">
              <a:buNone/>
            </a:pPr>
            <a:r>
              <a:rPr lang="en-US" sz="1100" b="1" dirty="0">
                <a:solidFill>
                  <a:srgbClr val="C6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永遠載入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1444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成本：</a:t>
            </a:r>
            <a:pPr indent="0" marL="0">
              <a:buNone/>
            </a:pPr>
            <a:r>
              <a:rPr lang="en-US" sz="1100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tokens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0" y="16642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內容：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僅包含 name 與 description，作為路由地圖。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80160" y="2240280"/>
            <a:ext cx="4389120" cy="777240"/>
          </a:xfrm>
          <a:prstGeom prst="rect">
            <a:avLst/>
          </a:prstGeom>
          <a:solidFill>
            <a:srgbClr val="F0F7F4"/>
          </a:solidFill>
          <a:ln w="12700">
            <a:solidFill>
              <a:srgbClr val="3AA68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41732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7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2:</a:t>
            </a:r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完整指令 (Full Prompt)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760720" y="22402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126480" y="2286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載入時機：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判斷相關時 </a:t>
            </a:r>
            <a:pPr indent="0" marL="0">
              <a:buNone/>
            </a:pPr>
            <a:r>
              <a:rPr lang="en-US" sz="11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動態載入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26480" y="24963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成本：</a:t>
            </a:r>
            <a:pPr indent="0" marL="0">
              <a:buNone/>
            </a:pPr>
            <a:r>
              <a:rPr lang="en-US" sz="1100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5,000 tokens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26480" y="27157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內容：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本文與執行邏輯。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3291840"/>
            <a:ext cx="5303520" cy="777240"/>
          </a:xfrm>
          <a:prstGeom prst="rect">
            <a:avLst/>
          </a:prstGeom>
          <a:solidFill>
            <a:srgbClr val="FFF8F0"/>
          </a:solidFill>
          <a:ln w="12700">
            <a:solidFill>
              <a:srgbClr val="C67A3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6012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7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3:</a:t>
            </a:r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捆綁資源 (Bundled Assets)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17920" y="32918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583680" y="33375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載入時機：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技能觸發後 </a:t>
            </a:r>
            <a:pPr indent="0" marL="0">
              <a:buNone/>
            </a:pPr>
            <a:r>
              <a:rPr lang="en-US" sz="11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按需精準載入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83680" y="3547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成本：</a:t>
            </a:r>
            <a:pPr indent="0" marL="0">
              <a:buNone/>
            </a:pPr>
            <a:r>
              <a:rPr lang="en-US" sz="1100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無上限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83680" y="37673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內容：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scripts/、references/ 中的檔案。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裝 100 個技能也不會拖慢回應速度 — 只有元資料始終在 context 中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— SKILL.md 結構與語意路由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0058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0058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pPr indent="0" marL="0">
              <a:buNone/>
            </a:pPr>
            <a:r>
              <a:rPr lang="en-US" sz="1100" dirty="0">
                <a:solidFill>
                  <a:srgbClr val="C6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pPr indent="0" marL="0">
              <a:buNone/>
            </a:pPr>
            <a:r>
              <a:rPr lang="en-US" sz="1100" dirty="0">
                <a:solidFill>
                  <a:srgbClr val="2D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深度程式碼審查專家。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在使用者修改程式碼後自動觸發。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</a:t>
            </a:r>
            <a:pPr indent="0" marL="0">
              <a:buNone/>
            </a:pPr>
            <a:r>
              <a:rPr lang="en-US" sz="1100" dirty="0">
                <a:solidFill>
                  <a:srgbClr val="C6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allowed-tools: </a:t>
            </a:r>
            <a:pPr indent="0" marL="0">
              <a:buNone/>
            </a:pPr>
            <a:r>
              <a:rPr lang="en-US" sz="1100" dirty="0">
                <a:solidFill>
                  <a:srgbClr val="C6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Grep, Glob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審查流程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分析程式碼結構與設計模式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檢查安全漏洞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評估效能影響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提供具體改善建議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3931920" cy="1645920"/>
          </a:xfrm>
          <a:prstGeom prst="rect">
            <a:avLst/>
          </a:prstGeom>
          <a:solidFill>
            <a:srgbClr val="E8F4F8"/>
          </a:solidFill>
          <a:ln w="12700">
            <a:solidFill>
              <a:srgbClr val="2D8B7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無算法路由 (No Algorithmic Routing)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捨棄傳統的意圖分類或向量嵌入匹配。Claude 動態讀取所有可用技能的 name 和 description，純粹依賴語言理解能力決定派發任務。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官方建議將描述寫得「積極主動」— Claude 傾向於不夠頻繁地觸發技能。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78892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788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788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技能識別，小寫+連字號 ≤64 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20040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決定「何時觸發」≤1024 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61188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611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fork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611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隔離執行，避免污染主對話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402336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4023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4023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限制可用工具，安全沙箱化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— 實戰應用案例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164592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feature-dev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· 89K+ 安裝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 code-explorer、code-architect、code-reviewer 三個代理，引導式功能開發全流程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54864" cy="1645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security-audit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自建技能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掃描依賴漏洞、硬編碼密鑰、SQL 注入風險，在 fork context 中隔離執行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54864" cy="1645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docx / pdf / pptx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Skills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檔案格式處理，自動偵測到 .docx/.pdf 相關任務時觸發對應專家技能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34640"/>
            <a:ext cx="54864" cy="1645920"/>
          </a:xfrm>
          <a:prstGeom prst="rect">
            <a:avLst/>
          </a:prstGeom>
          <a:solidFill>
            <a:srgbClr val="C67A3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deploy-workflow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246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團隊自建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520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封裝部署流程 SOP：健康檢查 → 備份 → 部署 → 回歸測試 → 通知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Commands — 可複用的斜線指令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686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.claude/commands/*.md  →  /project:指令名  即可執行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4389120" cy="3108960"/>
          </a:xfrm>
          <a:prstGeom prst="rect">
            <a:avLst/>
          </a:prstGeom>
          <a:solidFill>
            <a:srgbClr val="2B2D3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234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.claude/commands/review.md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50876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allowed-tools: Read, Grep, Bash(git:*)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全面的程式碼審查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已變更的檔案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!`git diff --name-only HEAD~1`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詳細差異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!`git diff HEAD~1`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審查要點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程式碼品質  2. 安全漏洞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效能影響    4. 測試覆蓋率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120640" y="11887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0352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動態內容注入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03520" y="1600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!`指令` 語法會在載入時即時執行 shell 並嵌入結果，讓指令模板包含即時資料（如 git diff 的變更檔案清單）。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120640" y="2697480"/>
            <a:ext cx="3657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7A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30352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7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Commands vs Skills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03520" y="3108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Command：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使用者主動 / 觸發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Skill：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自動判斷觸發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新版已統一用 SKILL.md 格式，兩者可以共存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67A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 — 事件驅動的確定性控制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296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靠 LLM 判斷 → 不確定；Hooks 靠程式碼保證 → 100% 確定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8412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188720"/>
                <a:gridCol w="3383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觸發時機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可否阻擋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典型用途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PreToolUse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工具執行前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可阻擋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阻擋危險指令 rm -rf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PostToolUse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工具成功後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自動 Prettier 格式化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完成回應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觸發桌面通知 (macOS/Slack)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新工作階段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載入環境變數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UserPromptSubmit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使用者送出提示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可修改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注入上下文資訊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通知觸發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 osascript 通知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7A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 — 配置格式與實戰案例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97680" cy="3291840"/>
          </a:xfrm>
          <a:prstGeom prst="rect">
            <a:avLst/>
          </a:prstGeom>
          <a:solidFill>
            <a:srgbClr val="2B2D3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 中的 hooks 設定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"hooks":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"PreToolUse": [{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"matcher": "Bash",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"hooks": [{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"command",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"block-rm.sh"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"PostToolUse": [{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"matcher": "Write|Edit",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"hooks": [{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"command",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"auto-format.sh"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37760" y="91440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914400"/>
            <a:ext cx="54864" cy="713232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05156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77840" y="9601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安全閘門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577840" y="1234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阻擋 rm -rf、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阻擋未通過測試的 PR 建立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37760" y="173736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1737360"/>
            <a:ext cx="54864" cy="713232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2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783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自動格式化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577840" y="20574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 在 .ts 檔案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修改後自動執行 Prettier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937760" y="256032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37760" y="2560320"/>
            <a:ext cx="54864" cy="713232"/>
          </a:xfrm>
          <a:prstGeom prst="rect">
            <a:avLst/>
          </a:prstGeom>
          <a:solidFill>
            <a:srgbClr val="C67A3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69748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77840" y="2606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桌面通知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577840" y="2880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事件觸發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osascript 提醒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937760" y="338328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37760" y="3383280"/>
            <a:ext cx="54864" cy="713232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52044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7784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GitButler 整合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577840" y="3703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Pre/Post/Stop 三事件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掛載自動分支管理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65760" y="4343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退出碼控制：exit 0 放行 / exit 2 阻擋（stderr 回饋給 Claude）/ 支援 4 種處理器：command, http, prompt, agent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 — 外掛市集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296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Git 倉庫為分發管道的去中心化外掛生態系（9,000+ 外掛 / 50 萬+ 技能）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88720"/>
            <a:ext cx="2697480" cy="457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325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加入市集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920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marketplace add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anthropics/claude-plugins-official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78308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91840" y="118872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91840" y="1188720"/>
            <a:ext cx="2697480" cy="457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4" name="Text 10"/>
          <p:cNvSpPr/>
          <p:nvPr/>
        </p:nvSpPr>
        <p:spPr>
          <a:xfrm>
            <a:off x="3429000" y="1325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2900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瀏覽外掛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29000" y="1920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&gt; Discover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選擇需要的外掛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83080"/>
            <a:ext cx="274320" cy="274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17920" y="118872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1188720"/>
            <a:ext cx="2697480" cy="457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0" name="Text 15"/>
          <p:cNvSpPr/>
          <p:nvPr/>
        </p:nvSpPr>
        <p:spPr>
          <a:xfrm>
            <a:off x="6355080" y="1325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35508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安裝外掛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55080" y="1920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plugin-name@marketplace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65760" y="3063240"/>
            <a:ext cx="8412480" cy="1234440"/>
          </a:xfrm>
          <a:prstGeom prst="rect">
            <a:avLst/>
          </a:prstGeom>
          <a:solidFill>
            <a:srgbClr val="2B2D3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4864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A6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外掛 = 一個目錄，封裝所有元件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48640" y="34290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plugin-name/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.claude-plugin/plugin.json   </a:t>
            </a:r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元資料（必要）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A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skills/     </a:t>
            </a:r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commands/     </a:t>
            </a:r>
            <a:pPr indent="0" marL="0">
              <a:buNone/>
            </a:pPr>
            <a:r>
              <a:rPr lang="en-US" sz="1100" dirty="0">
                <a:solidFill>
                  <a:srgbClr val="E8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   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.mcp.json                    </a:t>
            </a:r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MCP 伺服器設定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選擇性安裝：每個元件是獨立目錄，可只複製需要的 skills/ ・ 安全沙箱：安裝時複製到本地快取，../ 路徑無效 ・ deny 永遠勝出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五大元件定位比較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463040"/>
                <a:gridCol w="219456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元件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觸發方式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確定性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設定位置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類比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7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自動選用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中（LLM 決定）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.mcp.json /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外接裝置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推理匹配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中（LLM 決定）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.claude/skills/*/SKILL.md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專業技能證照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使用者 / 主動觸發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高（使用者控制）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.claude/commands/*.md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巨集 / 快捷鍵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事件自動觸發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最高（程式碼保證）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settings.json hooks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hooks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委派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中（LLM 決定）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.claude/agents/*.md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專業顧問團隊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97280" y="4023360"/>
            <a:ext cx="69494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7A3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4023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 </a:t>
            </a:r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由非確定性（LLM 推理）到確定性（事件驅動）的完整控制光譜。Skills + Hooks 是最常搭配使用的組合。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記憶 vs 能力：系統配置的兩種維度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4630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專案全局記憶 (Memory)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載入機制：每次工作階段必定全量載入。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核心用途：建立團隊專案的基礎上下文。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應用情境：團隊編碼規範、系統架構決策 (ADRs)、全域禁止事項。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46320" y="914400"/>
            <a:ext cx="3931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914400"/>
            <a:ext cx="3931920" cy="384048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9601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專業外掛能力 (Capability)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0" y="25603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載入機制：漸進式、按需動態載入 (On-demand)。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核心用途：封裝特定領域的高階工作流程。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應用情境：PDF/DOCX 工具、資安掃描、前端設計審查指南。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8B7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團隊導入建議 — 從哪裡開始？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05840"/>
            <a:ext cx="2697480" cy="45720"/>
          </a:xfrm>
          <a:prstGeom prst="rect">
            <a:avLst/>
          </a:prstGeom>
          <a:solidFill>
            <a:srgbClr val="2D8B7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73736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1-2 週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" y="1463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基礎設施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02920" y="201168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.claude/settings.json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.mcp.json（JIRA、GitHub）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加入基本 Hooks（自動格式化）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127248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3291840" y="100584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91840" y="1005840"/>
            <a:ext cx="2697480" cy="4572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1430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0332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66344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3-4 週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429000" y="1463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團隊技能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3429000" y="201168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建立團隊 Skills（code-review、deploy）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Commands（常用工作流模板）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官方外掛市集安裝 feature-dev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053328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6217920" y="100584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17920" y="1005840"/>
            <a:ext cx="2697480" cy="4572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14300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2940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58952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5-8 週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355080" y="1463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內部市集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6355080" y="201168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建立內部 Git 倉庫作為 Marketplace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級技能標準化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安全鉤子強制部署（Managed scope）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8412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828800" cy="36576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感謝聆聽，歡迎提問！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推薦資源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官方文件  </a:t>
            </a:r>
            <a:pPr indent="0" marL="0">
              <a:buNone/>
            </a:pPr>
            <a:r>
              <a:rPr lang="en-US" sz="1400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code.claude.com/docs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官方外掛  </a:t>
            </a:r>
            <a:pPr indent="0" marL="0">
              <a:buNone/>
            </a:pPr>
            <a:r>
              <a:rPr lang="en-US" sz="1400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github.com/anthropics/claude-plugins-official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倉庫  </a:t>
            </a:r>
            <a:pPr indent="0" marL="0">
              <a:buNone/>
            </a:pPr>
            <a:r>
              <a:rPr lang="en-US" sz="1400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github.com/anthropics/skills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 </a:t>
            </a:r>
            <a:pPr indent="0" marL="0">
              <a:buNone/>
            </a:pPr>
            <a:r>
              <a:rPr lang="en-US" sz="1400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agentskills.io/specification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206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M公司 DevOps · JIRA x AI Task Force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CLI 工作流程與實戰應用</dc:title>
  <dc:subject>PptxGenJS Presentation</dc:subject>
  <dc:creator>Colin</dc:creator>
  <cp:lastModifiedBy>Colin</cp:lastModifiedBy>
  <cp:revision>1</cp:revision>
  <dcterms:created xsi:type="dcterms:W3CDTF">2026-03-18T06:01:44Z</dcterms:created>
  <dcterms:modified xsi:type="dcterms:W3CDTF">2026-03-18T06:01:44Z</dcterms:modified>
</cp:coreProperties>
</file>