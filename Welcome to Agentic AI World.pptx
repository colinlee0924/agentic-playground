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6858000" cx="12192000"/>
  <p:notesSz cx="6858000" cy="9144000"/>
  <p:embeddedFontLst>
    <p:embeddedFont>
      <p:font typeface="Urbanist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A659A5B-1B4D-4777-83D8-B525C0DE5A78}">
  <a:tblStyle styleId="{2A659A5B-1B4D-4777-83D8-B525C0DE5A78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Urbanist-regular.fntdata"/><Relationship Id="rId21" Type="http://schemas.openxmlformats.org/officeDocument/2006/relationships/slide" Target="slides/slide15.xml"/><Relationship Id="rId24" Type="http://schemas.openxmlformats.org/officeDocument/2006/relationships/font" Target="fonts/Urbanist-italic.fntdata"/><Relationship Id="rId23" Type="http://schemas.openxmlformats.org/officeDocument/2006/relationships/font" Target="fonts/Urbanist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5" Type="http://schemas.openxmlformats.org/officeDocument/2006/relationships/font" Target="fonts/Urbanist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Relationship Id="rId4" Type="http://schemas.openxmlformats.org/officeDocument/2006/relationships/image" Target="../media/image7.png"/><Relationship Id="rId5" Type="http://schemas.openxmlformats.org/officeDocument/2006/relationships/image" Target="../media/image4.png"/><Relationship Id="rId6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Relationship Id="rId4" Type="http://schemas.openxmlformats.org/officeDocument/2006/relationships/image" Target="../media/image1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Relationship Id="rId4" Type="http://schemas.openxmlformats.org/officeDocument/2006/relationships/image" Target="../media/image7.png"/><Relationship Id="rId5" Type="http://schemas.openxmlformats.org/officeDocument/2006/relationships/image" Target="../media/image13.png"/><Relationship Id="rId6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Relationship Id="rId4" Type="http://schemas.openxmlformats.org/officeDocument/2006/relationships/image" Target="../media/image20.png"/><Relationship Id="rId11" Type="http://schemas.openxmlformats.org/officeDocument/2006/relationships/image" Target="../media/image18.png"/><Relationship Id="rId10" Type="http://schemas.openxmlformats.org/officeDocument/2006/relationships/image" Target="../media/image9.png"/><Relationship Id="rId12" Type="http://schemas.openxmlformats.org/officeDocument/2006/relationships/image" Target="../media/image24.png"/><Relationship Id="rId9" Type="http://schemas.openxmlformats.org/officeDocument/2006/relationships/image" Target="../media/image3.png"/><Relationship Id="rId5" Type="http://schemas.openxmlformats.org/officeDocument/2006/relationships/image" Target="../media/image29.png"/><Relationship Id="rId6" Type="http://schemas.openxmlformats.org/officeDocument/2006/relationships/image" Target="../media/image6.png"/><Relationship Id="rId7" Type="http://schemas.openxmlformats.org/officeDocument/2006/relationships/image" Target="../media/image10.png"/><Relationship Id="rId8" Type="http://schemas.openxmlformats.org/officeDocument/2006/relationships/image" Target="../media/image1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Relationship Id="rId4" Type="http://schemas.openxmlformats.org/officeDocument/2006/relationships/image" Target="../media/image25.png"/><Relationship Id="rId5" Type="http://schemas.openxmlformats.org/officeDocument/2006/relationships/image" Target="../media/image41.png"/><Relationship Id="rId6" Type="http://schemas.openxmlformats.org/officeDocument/2006/relationships/image" Target="../media/image35.png"/><Relationship Id="rId7" Type="http://schemas.openxmlformats.org/officeDocument/2006/relationships/image" Target="../media/image39.png"/><Relationship Id="rId8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Relationship Id="rId4" Type="http://schemas.openxmlformats.org/officeDocument/2006/relationships/image" Target="../media/image38.png"/><Relationship Id="rId5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Relationship Id="rId4" Type="http://schemas.openxmlformats.org/officeDocument/2006/relationships/image" Target="../media/image7.png"/><Relationship Id="rId5" Type="http://schemas.openxmlformats.org/officeDocument/2006/relationships/image" Target="../media/image34.png"/><Relationship Id="rId6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Relationship Id="rId4" Type="http://schemas.openxmlformats.org/officeDocument/2006/relationships/image" Target="../media/image20.png"/><Relationship Id="rId11" Type="http://schemas.openxmlformats.org/officeDocument/2006/relationships/image" Target="../media/image37.png"/><Relationship Id="rId10" Type="http://schemas.openxmlformats.org/officeDocument/2006/relationships/image" Target="../media/image21.png"/><Relationship Id="rId12" Type="http://schemas.openxmlformats.org/officeDocument/2006/relationships/image" Target="../media/image36.png"/><Relationship Id="rId9" Type="http://schemas.openxmlformats.org/officeDocument/2006/relationships/image" Target="../media/image3.png"/><Relationship Id="rId5" Type="http://schemas.openxmlformats.org/officeDocument/2006/relationships/image" Target="../media/image29.png"/><Relationship Id="rId6" Type="http://schemas.openxmlformats.org/officeDocument/2006/relationships/image" Target="../media/image6.png"/><Relationship Id="rId7" Type="http://schemas.openxmlformats.org/officeDocument/2006/relationships/image" Target="../media/image10.png"/><Relationship Id="rId8" Type="http://schemas.openxmlformats.org/officeDocument/2006/relationships/image" Target="../media/image1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Relationship Id="rId4" Type="http://schemas.openxmlformats.org/officeDocument/2006/relationships/image" Target="../media/image7.png"/><Relationship Id="rId5" Type="http://schemas.openxmlformats.org/officeDocument/2006/relationships/image" Target="../media/image31.png"/><Relationship Id="rId6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Relationship Id="rId4" Type="http://schemas.openxmlformats.org/officeDocument/2006/relationships/image" Target="../media/image26.png"/><Relationship Id="rId5" Type="http://schemas.openxmlformats.org/officeDocument/2006/relationships/image" Target="../media/image30.png"/><Relationship Id="rId6" Type="http://schemas.openxmlformats.org/officeDocument/2006/relationships/image" Target="../media/image3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2.png"/><Relationship Id="rId4" Type="http://schemas.openxmlformats.org/officeDocument/2006/relationships/image" Target="../media/image43.png"/><Relationship Id="rId9" Type="http://schemas.openxmlformats.org/officeDocument/2006/relationships/image" Target="../media/image42.png"/><Relationship Id="rId5" Type="http://schemas.openxmlformats.org/officeDocument/2006/relationships/image" Target="../media/image32.png"/><Relationship Id="rId6" Type="http://schemas.openxmlformats.org/officeDocument/2006/relationships/image" Target="../media/image27.png"/><Relationship Id="rId7" Type="http://schemas.openxmlformats.org/officeDocument/2006/relationships/image" Target="../media/image44.png"/><Relationship Id="rId8" Type="http://schemas.openxmlformats.org/officeDocument/2006/relationships/image" Target="../media/image4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765583" y="1767929"/>
            <a:ext cx="6660832" cy="1885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75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Welcome to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67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Agentic AI</a:t>
            </a:r>
            <a:r>
              <a:rPr b="1" i="0" lang="en-US" sz="675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 World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3619500" y="4130129"/>
            <a:ext cx="495300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Workshop 1: AAIF Platform Vision &amp; Core Concepts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 From Chatbots to Autonomous Agents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1" name="Google Shape;9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2" name="Google Shape;92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185987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/>
        </p:nvSpPr>
        <p:spPr>
          <a:xfrm>
            <a:off x="571500" y="381000"/>
            <a:ext cx="11601450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The Current State: </a:t>
            </a:r>
            <a:r>
              <a:rPr b="1" i="0" lang="en-US" sz="36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Silos &amp; Sprawl</a:t>
            </a:r>
            <a:endParaRPr/>
          </a:p>
        </p:txBody>
      </p:sp>
      <p:sp>
        <p:nvSpPr>
          <p:cNvPr id="94" name="Google Shape;94;p14"/>
          <p:cNvSpPr/>
          <p:nvPr/>
        </p:nvSpPr>
        <p:spPr>
          <a:xfrm>
            <a:off x="571500" y="1123950"/>
            <a:ext cx="1104900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4"/>
          <p:cNvSpPr txBox="1"/>
          <p:nvPr/>
        </p:nvSpPr>
        <p:spPr>
          <a:xfrm>
            <a:off x="571500" y="2594967"/>
            <a:ext cx="5500687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The Problem</a:t>
            </a:r>
            <a:endParaRPr/>
          </a:p>
        </p:txBody>
      </p:sp>
      <p:pic>
        <p:nvPicPr>
          <p:cNvPr descr="image.png" id="96" name="Google Shape;96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91275" y="2195512"/>
            <a:ext cx="521970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1333500" y="3004542"/>
            <a:ext cx="447675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DevOps Silos:</a:t>
            </a:r>
            <a:r>
              <a:rPr b="0" i="0" lang="en-US" sz="1650" u="none" cap="none" strike="noStrik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 Information is trapped in Jira, Wiki, and ALM. Users constantly switch contexts.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1333500" y="3865364"/>
            <a:ext cx="447675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N×M Integration:</a:t>
            </a:r>
            <a:r>
              <a:rPr b="0" i="0" lang="en-US" sz="1650" u="none" cap="none" strike="noStrik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 Every new tool requires a new connection. 10 Apps × 10 Tools = 100 Integrations.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1333500" y="4726185"/>
            <a:ext cx="447675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Agent Sprawl:</a:t>
            </a:r>
            <a:r>
              <a:rPr b="0" i="0" lang="en-US" sz="1650" u="none" cap="none" strike="noStrik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 Without a control plane, we risk an unmanageable mess of disconnected bots.</a:t>
            </a:r>
            <a:endParaRPr/>
          </a:p>
        </p:txBody>
      </p:sp>
      <p:pic>
        <p:nvPicPr>
          <p:cNvPr descr="image.png" id="100" name="Google Shape;100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52500" y="3004542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52500" y="3865364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52500" y="4726185"/>
            <a:ext cx="209550" cy="21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7" name="Google Shape;10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5"/>
          <p:cNvSpPr txBox="1"/>
          <p:nvPr/>
        </p:nvSpPr>
        <p:spPr>
          <a:xfrm>
            <a:off x="762000" y="1023342"/>
            <a:ext cx="4800600" cy="1276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One Interface,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42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Connect All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762000" y="2794992"/>
            <a:ext cx="45720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The AAIF Mission:</a:t>
            </a:r>
            <a:r>
              <a:rPr b="0" i="0" lang="en-US" sz="1650" u="none" cap="none" strike="noStrik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 To provide a unified entry point for all DevOps services.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762000" y="3865364"/>
            <a:ext cx="45720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For Users:</a:t>
            </a:r>
            <a:r>
              <a:rPr b="0" i="0" lang="en-US" sz="1650" u="none" cap="none" strike="noStrik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 A "Jarvis-like" experience via Open WebUI.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762000" y="4954785"/>
            <a:ext cx="45720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For Developers:</a:t>
            </a:r>
            <a:r>
              <a:rPr b="0" i="0" lang="en-US" sz="1650" u="none" cap="none" strike="noStrik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 We solve the UI &amp; Traffic problem. You focus on the Agent's brain.</a:t>
            </a:r>
            <a:endParaRPr/>
          </a:p>
        </p:txBody>
      </p:sp>
      <p:pic>
        <p:nvPicPr>
          <p:cNvPr descr="image.png" id="112" name="Google Shape;11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7" name="Google Shape;11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185987"/>
            <a:ext cx="523875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179540"/>
            <a:ext cx="5238750" cy="1542752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6"/>
          <p:cNvSpPr txBox="1"/>
          <p:nvPr/>
        </p:nvSpPr>
        <p:spPr>
          <a:xfrm>
            <a:off x="571500" y="381000"/>
            <a:ext cx="11601450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The Mindset Shift: </a:t>
            </a:r>
            <a:r>
              <a:rPr b="1" i="0" lang="en-US" sz="36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Bricklayer vs. Director</a:t>
            </a:r>
            <a:endParaRPr/>
          </a:p>
        </p:txBody>
      </p:sp>
      <p:sp>
        <p:nvSpPr>
          <p:cNvPr id="121" name="Google Shape;121;p16"/>
          <p:cNvSpPr/>
          <p:nvPr/>
        </p:nvSpPr>
        <p:spPr>
          <a:xfrm>
            <a:off x="571500" y="1123950"/>
            <a:ext cx="1104900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6"/>
          <p:cNvSpPr txBox="1"/>
          <p:nvPr/>
        </p:nvSpPr>
        <p:spPr>
          <a:xfrm>
            <a:off x="571500" y="2459682"/>
            <a:ext cx="5500687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From Coding to Orchestrating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571500" y="2888307"/>
            <a:ext cx="5238750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Traditional development is like bricklaying: you define every logic step (If-Then-Else). Agentic AI requires a "Director" mindset.</a:t>
            </a:r>
            <a:endParaRPr/>
          </a:p>
        </p:txBody>
      </p:sp>
      <p:pic>
        <p:nvPicPr>
          <p:cNvPr descr="image.png" id="124" name="Google Shape;124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91275" y="2195512"/>
            <a:ext cx="521970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6"/>
          <p:cNvSpPr txBox="1"/>
          <p:nvPr/>
        </p:nvSpPr>
        <p:spPr>
          <a:xfrm>
            <a:off x="800100" y="4370040"/>
            <a:ext cx="481965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650" u="none" cap="none" strike="noStrik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"You define the goals and guardrails, the model figures out the steps."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800100" y="5135612"/>
            <a:ext cx="481965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— Google Cloud, Introduction to Agents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1" name="Google Shape;13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" name="Google Shape;132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25303"/>
            <a:ext cx="3492549" cy="333136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" name="Google Shape;133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425303"/>
            <a:ext cx="3492549" cy="333136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4" name="Google Shape;134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425303"/>
            <a:ext cx="3492549" cy="3331368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7"/>
          <p:cNvSpPr txBox="1"/>
          <p:nvPr/>
        </p:nvSpPr>
        <p:spPr>
          <a:xfrm>
            <a:off x="571500" y="381000"/>
            <a:ext cx="11601450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Anatomy of an </a:t>
            </a:r>
            <a:r>
              <a:rPr b="1" i="0" lang="en-US" sz="36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Agent</a:t>
            </a:r>
            <a:endParaRPr/>
          </a:p>
        </p:txBody>
      </p:sp>
      <p:sp>
        <p:nvSpPr>
          <p:cNvPr id="136" name="Google Shape;136;p17"/>
          <p:cNvSpPr/>
          <p:nvPr/>
        </p:nvSpPr>
        <p:spPr>
          <a:xfrm>
            <a:off x="571500" y="1123950"/>
            <a:ext cx="1104900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37" name="Google Shape;137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6775" y="2720578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/>
        </p:nvSpPr>
        <p:spPr>
          <a:xfrm>
            <a:off x="866775" y="3482578"/>
            <a:ext cx="3047099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The Model</a:t>
            </a:r>
            <a:endParaRPr/>
          </a:p>
        </p:txBody>
      </p:sp>
      <p:sp>
        <p:nvSpPr>
          <p:cNvPr id="139" name="Google Shape;139;p17"/>
          <p:cNvSpPr txBox="1"/>
          <p:nvPr/>
        </p:nvSpPr>
        <p:spPr>
          <a:xfrm>
            <a:off x="866775" y="3911203"/>
            <a:ext cx="2901999" cy="13406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The "Brain". Responsible for reasoning, planning, and decision-making based on the context provided.</a:t>
            </a:r>
            <a:endParaRPr/>
          </a:p>
        </p:txBody>
      </p:sp>
      <p:pic>
        <p:nvPicPr>
          <p:cNvPr descr="image.png" id="140" name="Google Shape;140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45074" y="2720578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>
            <a:off x="4645074" y="3482578"/>
            <a:ext cx="3047099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The Tools</a:t>
            </a:r>
            <a:endParaRPr/>
          </a:p>
        </p:txBody>
      </p:sp>
      <p:sp>
        <p:nvSpPr>
          <p:cNvPr id="142" name="Google Shape;142;p17"/>
          <p:cNvSpPr txBox="1"/>
          <p:nvPr/>
        </p:nvSpPr>
        <p:spPr>
          <a:xfrm>
            <a:off x="4645074" y="3911203"/>
            <a:ext cx="2901999" cy="13406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The "Hands". Interfaces to the outside world (APIs, Databases) allowing the agent to take action.</a:t>
            </a:r>
            <a:endParaRPr/>
          </a:p>
        </p:txBody>
      </p:sp>
      <p:pic>
        <p:nvPicPr>
          <p:cNvPr descr="image.png" id="143" name="Google Shape;143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23374" y="2720578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7"/>
          <p:cNvSpPr txBox="1"/>
          <p:nvPr/>
        </p:nvSpPr>
        <p:spPr>
          <a:xfrm>
            <a:off x="8423374" y="3482578"/>
            <a:ext cx="3047099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Orchestration</a:t>
            </a:r>
            <a:endParaRPr/>
          </a:p>
        </p:txBody>
      </p:sp>
      <p:sp>
        <p:nvSpPr>
          <p:cNvPr id="145" name="Google Shape;145;p17"/>
          <p:cNvSpPr txBox="1"/>
          <p:nvPr/>
        </p:nvSpPr>
        <p:spPr>
          <a:xfrm>
            <a:off x="8423374" y="3911203"/>
            <a:ext cx="2901999" cy="13406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The "Nervous System". Manages memory, maintains state, and executes the reasoning loop.</a:t>
            </a:r>
            <a:endParaRPr/>
          </a:p>
        </p:txBody>
      </p:sp>
      <p:pic>
        <p:nvPicPr>
          <p:cNvPr descr="image.png" id="146" name="Google Shape;146;p1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38225" y="2892028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7" name="Google Shape;147;p1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816524" y="2892028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8" name="Google Shape;148;p17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566249" y="2892028"/>
            <a:ext cx="285750" cy="22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3" name="Google Shape;15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8"/>
          <p:cNvSpPr txBox="1"/>
          <p:nvPr/>
        </p:nvSpPr>
        <p:spPr>
          <a:xfrm>
            <a:off x="571500" y="381000"/>
            <a:ext cx="11601450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The Cognitive Loop (Google Whitepaper)</a:t>
            </a:r>
            <a:endParaRPr/>
          </a:p>
        </p:txBody>
      </p:sp>
      <p:sp>
        <p:nvSpPr>
          <p:cNvPr id="155" name="Google Shape;155;p18"/>
          <p:cNvSpPr/>
          <p:nvPr/>
        </p:nvSpPr>
        <p:spPr>
          <a:xfrm>
            <a:off x="571500" y="1123950"/>
            <a:ext cx="1104900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8"/>
          <p:cNvSpPr/>
          <p:nvPr/>
        </p:nvSpPr>
        <p:spPr>
          <a:xfrm>
            <a:off x="571500" y="4090987"/>
            <a:ext cx="11049000" cy="381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8"/>
          <p:cNvSpPr/>
          <p:nvPr/>
        </p:nvSpPr>
        <p:spPr>
          <a:xfrm>
            <a:off x="1562100" y="3976687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DEFF9A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8"/>
          <p:cNvSpPr/>
          <p:nvPr/>
        </p:nvSpPr>
        <p:spPr>
          <a:xfrm>
            <a:off x="3771900" y="3976687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DEFF9A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8"/>
          <p:cNvSpPr/>
          <p:nvPr/>
        </p:nvSpPr>
        <p:spPr>
          <a:xfrm>
            <a:off x="5981700" y="3976687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DEFF9A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8"/>
          <p:cNvSpPr/>
          <p:nvPr/>
        </p:nvSpPr>
        <p:spPr>
          <a:xfrm>
            <a:off x="8191500" y="3976687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DEFF9A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8"/>
          <p:cNvSpPr/>
          <p:nvPr/>
        </p:nvSpPr>
        <p:spPr>
          <a:xfrm>
            <a:off x="10401300" y="3976687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DEFF9A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8"/>
          <p:cNvSpPr txBox="1"/>
          <p:nvPr/>
        </p:nvSpPr>
        <p:spPr>
          <a:xfrm>
            <a:off x="516254" y="4357687"/>
            <a:ext cx="232029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1. Mission</a:t>
            </a:r>
            <a:endParaRPr/>
          </a:p>
        </p:txBody>
      </p:sp>
      <p:sp>
        <p:nvSpPr>
          <p:cNvPr id="163" name="Google Shape;163;p18"/>
          <p:cNvSpPr txBox="1"/>
          <p:nvPr/>
        </p:nvSpPr>
        <p:spPr>
          <a:xfrm>
            <a:off x="571500" y="4729162"/>
            <a:ext cx="22098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Receive Goal</a:t>
            </a:r>
            <a:endParaRPr/>
          </a:p>
        </p:txBody>
      </p:sp>
      <p:sp>
        <p:nvSpPr>
          <p:cNvPr id="164" name="Google Shape;164;p18"/>
          <p:cNvSpPr txBox="1"/>
          <p:nvPr/>
        </p:nvSpPr>
        <p:spPr>
          <a:xfrm>
            <a:off x="2726055" y="3056632"/>
            <a:ext cx="232029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2. Scan</a:t>
            </a:r>
            <a:endParaRPr/>
          </a:p>
        </p:txBody>
      </p:sp>
      <p:sp>
        <p:nvSpPr>
          <p:cNvPr id="165" name="Google Shape;165;p18"/>
          <p:cNvSpPr txBox="1"/>
          <p:nvPr/>
        </p:nvSpPr>
        <p:spPr>
          <a:xfrm>
            <a:off x="2781300" y="3428107"/>
            <a:ext cx="22098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Perceive Context</a:t>
            </a:r>
            <a:endParaRPr/>
          </a:p>
        </p:txBody>
      </p:sp>
      <p:sp>
        <p:nvSpPr>
          <p:cNvPr id="166" name="Google Shape;166;p18"/>
          <p:cNvSpPr txBox="1"/>
          <p:nvPr/>
        </p:nvSpPr>
        <p:spPr>
          <a:xfrm>
            <a:off x="4935855" y="4357687"/>
            <a:ext cx="232029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3. Think</a:t>
            </a:r>
            <a:endParaRPr/>
          </a:p>
        </p:txBody>
      </p:sp>
      <p:sp>
        <p:nvSpPr>
          <p:cNvPr id="167" name="Google Shape;167;p18"/>
          <p:cNvSpPr txBox="1"/>
          <p:nvPr/>
        </p:nvSpPr>
        <p:spPr>
          <a:xfrm>
            <a:off x="4991100" y="4729162"/>
            <a:ext cx="22098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Reasoning &amp; Plan</a:t>
            </a:r>
            <a:endParaRPr/>
          </a:p>
        </p:txBody>
      </p:sp>
      <p:sp>
        <p:nvSpPr>
          <p:cNvPr id="168" name="Google Shape;168;p18"/>
          <p:cNvSpPr txBox="1"/>
          <p:nvPr/>
        </p:nvSpPr>
        <p:spPr>
          <a:xfrm>
            <a:off x="7145655" y="3056632"/>
            <a:ext cx="232029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4. Act</a:t>
            </a:r>
            <a:endParaRPr/>
          </a:p>
        </p:txBody>
      </p:sp>
      <p:sp>
        <p:nvSpPr>
          <p:cNvPr id="169" name="Google Shape;169;p18"/>
          <p:cNvSpPr txBox="1"/>
          <p:nvPr/>
        </p:nvSpPr>
        <p:spPr>
          <a:xfrm>
            <a:off x="7200900" y="3428107"/>
            <a:ext cx="22098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Call Tools</a:t>
            </a:r>
            <a:endParaRPr/>
          </a:p>
        </p:txBody>
      </p:sp>
      <p:sp>
        <p:nvSpPr>
          <p:cNvPr id="170" name="Google Shape;170;p18"/>
          <p:cNvSpPr txBox="1"/>
          <p:nvPr/>
        </p:nvSpPr>
        <p:spPr>
          <a:xfrm>
            <a:off x="9355455" y="4357687"/>
            <a:ext cx="232029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5. Iterate</a:t>
            </a:r>
            <a:endParaRPr/>
          </a:p>
        </p:txBody>
      </p:sp>
      <p:sp>
        <p:nvSpPr>
          <p:cNvPr id="171" name="Google Shape;171;p18"/>
          <p:cNvSpPr txBox="1"/>
          <p:nvPr/>
        </p:nvSpPr>
        <p:spPr>
          <a:xfrm>
            <a:off x="9410700" y="4729162"/>
            <a:ext cx="22098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Observe &amp; Correct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6" name="Google Shape;17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9"/>
          <p:cNvSpPr txBox="1"/>
          <p:nvPr/>
        </p:nvSpPr>
        <p:spPr>
          <a:xfrm>
            <a:off x="571500" y="381000"/>
            <a:ext cx="11601450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Taxonomy of </a:t>
            </a:r>
            <a:r>
              <a:rPr b="1" i="0" lang="en-US" sz="36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Agentic Systems</a:t>
            </a:r>
            <a:endParaRPr/>
          </a:p>
        </p:txBody>
      </p:sp>
      <p:sp>
        <p:nvSpPr>
          <p:cNvPr id="178" name="Google Shape;178;p19"/>
          <p:cNvSpPr/>
          <p:nvPr/>
        </p:nvSpPr>
        <p:spPr>
          <a:xfrm>
            <a:off x="571500" y="1123950"/>
            <a:ext cx="1104900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79" name="Google Shape;179;p19"/>
          <p:cNvGraphicFramePr/>
          <p:nvPr/>
        </p:nvGraphicFramePr>
        <p:xfrm>
          <a:off x="571500" y="254317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{2A659A5B-1B4D-4777-83D8-B525C0DE5A78}</a:tableStyleId>
              </a:tblPr>
              <a:tblGrid>
                <a:gridCol w="2062600"/>
                <a:gridCol w="6633725"/>
                <a:gridCol w="2352675"/>
              </a:tblGrid>
              <a:tr h="619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Level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Capabilities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Example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9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DEFF9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L0: Reasoning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D4D4D4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Generates content based on training data. No external access.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D4D4D4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ChatGPT (Base)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9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DEFF9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L1: Connected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D4D4D4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Can access external data (RAG) and search. Read-only.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D4D4D4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Enterprise Search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9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DEFF9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L2: Strategic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D4D4D4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Can plan and execute multi-step tasks. Read/Write.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D4D4D4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Our Workshop Goal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9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DEFF9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L3: Collaborative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D4D4D4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Multiple agents coordinating specialized tasks.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D4D4D4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AAIF Target State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80" name="Google Shape;180;p19"/>
          <p:cNvSpPr/>
          <p:nvPr/>
        </p:nvSpPr>
        <p:spPr>
          <a:xfrm>
            <a:off x="571500" y="3143250"/>
            <a:ext cx="2062608" cy="190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9"/>
          <p:cNvSpPr/>
          <p:nvPr/>
        </p:nvSpPr>
        <p:spPr>
          <a:xfrm>
            <a:off x="2634108" y="3143250"/>
            <a:ext cx="6633716" cy="190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9"/>
          <p:cNvSpPr/>
          <p:nvPr/>
        </p:nvSpPr>
        <p:spPr>
          <a:xfrm>
            <a:off x="9267825" y="3143250"/>
            <a:ext cx="2352675" cy="190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9"/>
          <p:cNvSpPr/>
          <p:nvPr/>
        </p:nvSpPr>
        <p:spPr>
          <a:xfrm>
            <a:off x="571500" y="3776662"/>
            <a:ext cx="2062608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9"/>
          <p:cNvSpPr/>
          <p:nvPr/>
        </p:nvSpPr>
        <p:spPr>
          <a:xfrm>
            <a:off x="2634108" y="3776662"/>
            <a:ext cx="6633716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9"/>
          <p:cNvSpPr/>
          <p:nvPr/>
        </p:nvSpPr>
        <p:spPr>
          <a:xfrm>
            <a:off x="9267825" y="3776662"/>
            <a:ext cx="2352675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9"/>
          <p:cNvSpPr/>
          <p:nvPr/>
        </p:nvSpPr>
        <p:spPr>
          <a:xfrm>
            <a:off x="571500" y="4395787"/>
            <a:ext cx="2062608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9"/>
          <p:cNvSpPr/>
          <p:nvPr/>
        </p:nvSpPr>
        <p:spPr>
          <a:xfrm>
            <a:off x="2634108" y="4395787"/>
            <a:ext cx="6633716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9"/>
          <p:cNvSpPr/>
          <p:nvPr/>
        </p:nvSpPr>
        <p:spPr>
          <a:xfrm>
            <a:off x="9267825" y="4395787"/>
            <a:ext cx="2352675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9"/>
          <p:cNvSpPr/>
          <p:nvPr/>
        </p:nvSpPr>
        <p:spPr>
          <a:xfrm>
            <a:off x="571500" y="5014912"/>
            <a:ext cx="2062608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9"/>
          <p:cNvSpPr/>
          <p:nvPr/>
        </p:nvSpPr>
        <p:spPr>
          <a:xfrm>
            <a:off x="2634108" y="5014912"/>
            <a:ext cx="6633716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9"/>
          <p:cNvSpPr/>
          <p:nvPr/>
        </p:nvSpPr>
        <p:spPr>
          <a:xfrm>
            <a:off x="9267825" y="5014912"/>
            <a:ext cx="2352675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6" name="Google Shape;19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7" name="Google Shape;197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704975"/>
            <a:ext cx="5334000" cy="4772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8" name="Google Shape;198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1704975"/>
            <a:ext cx="5334000" cy="4772025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0"/>
          <p:cNvSpPr txBox="1"/>
          <p:nvPr/>
        </p:nvSpPr>
        <p:spPr>
          <a:xfrm>
            <a:off x="571500" y="381000"/>
            <a:ext cx="11601450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2025 Framework Landscape</a:t>
            </a:r>
            <a:endParaRPr/>
          </a:p>
        </p:txBody>
      </p:sp>
      <p:sp>
        <p:nvSpPr>
          <p:cNvPr id="200" name="Google Shape;200;p20"/>
          <p:cNvSpPr/>
          <p:nvPr/>
        </p:nvSpPr>
        <p:spPr>
          <a:xfrm>
            <a:off x="571500" y="1123950"/>
            <a:ext cx="1104900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0"/>
          <p:cNvSpPr txBox="1"/>
          <p:nvPr/>
        </p:nvSpPr>
        <p:spPr>
          <a:xfrm>
            <a:off x="962025" y="2095500"/>
            <a:ext cx="4780597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952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Market Trends</a:t>
            </a:r>
            <a:endParaRPr/>
          </a:p>
        </p:txBody>
      </p:sp>
      <p:sp>
        <p:nvSpPr>
          <p:cNvPr id="202" name="Google Shape;202;p20"/>
          <p:cNvSpPr txBox="1"/>
          <p:nvPr/>
        </p:nvSpPr>
        <p:spPr>
          <a:xfrm>
            <a:off x="6677025" y="2095500"/>
            <a:ext cx="4780597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62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AAIF Strategy</a:t>
            </a:r>
            <a:endParaRPr/>
          </a:p>
        </p:txBody>
      </p:sp>
      <p:sp>
        <p:nvSpPr>
          <p:cNvPr id="203" name="Google Shape;203;p20"/>
          <p:cNvSpPr txBox="1"/>
          <p:nvPr/>
        </p:nvSpPr>
        <p:spPr>
          <a:xfrm>
            <a:off x="6677025" y="2524125"/>
            <a:ext cx="45529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Protocol-First Approach:</a:t>
            </a:r>
            <a:endParaRPr/>
          </a:p>
        </p:txBody>
      </p:sp>
      <p:sp>
        <p:nvSpPr>
          <p:cNvPr id="204" name="Google Shape;204;p20"/>
          <p:cNvSpPr txBox="1"/>
          <p:nvPr/>
        </p:nvSpPr>
        <p:spPr>
          <a:xfrm>
            <a:off x="6677025" y="3068835"/>
            <a:ext cx="4552950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We do not lock you into a single framework. As long as your agent speaks the </a:t>
            </a:r>
            <a:r>
              <a:rPr b="1" i="0" lang="en-US" sz="1650" u="none" cap="none" strike="noStrik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A2A Protocol</a:t>
            </a:r>
            <a:r>
              <a:rPr b="0" i="0" lang="en-US" sz="1650" u="none" cap="none" strike="noStrik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, it can connect to the platform.</a:t>
            </a:r>
            <a:endParaRPr/>
          </a:p>
        </p:txBody>
      </p:sp>
      <p:pic>
        <p:nvPicPr>
          <p:cNvPr descr="image.png" id="205" name="Google Shape;205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2025" y="2114550"/>
            <a:ext cx="200025" cy="178296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0"/>
          <p:cNvSpPr txBox="1"/>
          <p:nvPr/>
        </p:nvSpPr>
        <p:spPr>
          <a:xfrm>
            <a:off x="1724025" y="2505075"/>
            <a:ext cx="379095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Microsoft:</a:t>
            </a:r>
            <a:r>
              <a:rPr b="0" i="0" lang="en-US" sz="1650" u="none" cap="none" strike="noStrik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 Integrating Semantic Kernel &amp; AutoGen.</a:t>
            </a:r>
            <a:endParaRPr/>
          </a:p>
        </p:txBody>
      </p:sp>
      <p:sp>
        <p:nvSpPr>
          <p:cNvPr id="207" name="Google Shape;207;p20"/>
          <p:cNvSpPr txBox="1"/>
          <p:nvPr/>
        </p:nvSpPr>
        <p:spPr>
          <a:xfrm>
            <a:off x="1724025" y="3365896"/>
            <a:ext cx="379095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LangChain:</a:t>
            </a:r>
            <a:r>
              <a:rPr b="0" i="0" lang="en-US" sz="1650" u="none" cap="none" strike="noStrik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 Industry standard for complex workflows (LangGraph).</a:t>
            </a:r>
            <a:endParaRPr/>
          </a:p>
        </p:txBody>
      </p:sp>
      <p:sp>
        <p:nvSpPr>
          <p:cNvPr id="208" name="Google Shape;208;p20"/>
          <p:cNvSpPr txBox="1"/>
          <p:nvPr/>
        </p:nvSpPr>
        <p:spPr>
          <a:xfrm>
            <a:off x="1724025" y="4226718"/>
            <a:ext cx="379095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CrewAI:</a:t>
            </a:r>
            <a:r>
              <a:rPr b="0" i="0" lang="en-US" sz="1650" u="none" cap="none" strike="noStrik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 Rapid MVP and role-based orchestration.</a:t>
            </a:r>
            <a:endParaRPr/>
          </a:p>
        </p:txBody>
      </p:sp>
      <p:pic>
        <p:nvPicPr>
          <p:cNvPr descr="image.png" id="209" name="Google Shape;209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677025" y="2114550"/>
            <a:ext cx="180975" cy="17829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0" name="Google Shape;210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343025" y="2505075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1" name="Google Shape;211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343025" y="3365896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2" name="Google Shape;212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343025" y="4226718"/>
            <a:ext cx="209550" cy="21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7" name="Google Shape;21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1"/>
          <p:cNvSpPr txBox="1"/>
          <p:nvPr/>
        </p:nvSpPr>
        <p:spPr>
          <a:xfrm>
            <a:off x="762000" y="960536"/>
            <a:ext cx="4800600" cy="11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The </a:t>
            </a:r>
            <a:r>
              <a:rPr b="1" i="0" lang="en-US" sz="36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Supervisor</a:t>
            </a:r>
            <a:r>
              <a:rPr b="1" i="0" lang="en-US" sz="36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 Pattern</a:t>
            </a:r>
            <a:endParaRPr/>
          </a:p>
        </p:txBody>
      </p:sp>
      <p:sp>
        <p:nvSpPr>
          <p:cNvPr id="219" name="Google Shape;219;p21"/>
          <p:cNvSpPr txBox="1"/>
          <p:nvPr/>
        </p:nvSpPr>
        <p:spPr>
          <a:xfrm>
            <a:off x="762000" y="2465486"/>
            <a:ext cx="4572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At the heart of AAIF is the </a:t>
            </a:r>
            <a:r>
              <a:rPr b="1" i="0" lang="en-US" sz="1650" u="none" cap="none" strike="noStrik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Orchestration Layer</a:t>
            </a:r>
            <a:r>
              <a:rPr b="0" i="0" lang="en-US" sz="1650" u="none" cap="none" strike="noStrik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/>
          </a:p>
        </p:txBody>
      </p:sp>
      <p:pic>
        <p:nvPicPr>
          <p:cNvPr descr="image.png" id="220" name="Google Shape;220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1"/>
          <p:cNvSpPr txBox="1"/>
          <p:nvPr/>
        </p:nvSpPr>
        <p:spPr>
          <a:xfrm>
            <a:off x="1524000" y="3162597"/>
            <a:ext cx="38100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Intent Recognition:</a:t>
            </a:r>
            <a:r>
              <a:rPr b="0" i="0" lang="en-US" sz="1650" u="none" cap="none" strike="noStrik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 Understands user requests.</a:t>
            </a:r>
            <a:endParaRPr/>
          </a:p>
        </p:txBody>
      </p:sp>
      <p:sp>
        <p:nvSpPr>
          <p:cNvPr id="222" name="Google Shape;222;p21"/>
          <p:cNvSpPr txBox="1"/>
          <p:nvPr/>
        </p:nvSpPr>
        <p:spPr>
          <a:xfrm>
            <a:off x="1524000" y="4023419"/>
            <a:ext cx="38100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Task Delegation:</a:t>
            </a:r>
            <a:r>
              <a:rPr b="0" i="0" lang="en-US" sz="1650" u="none" cap="none" strike="noStrik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 Routes tasks to specialized agents (Jira, Wiki).</a:t>
            </a:r>
            <a:endParaRPr/>
          </a:p>
        </p:txBody>
      </p:sp>
      <p:sp>
        <p:nvSpPr>
          <p:cNvPr id="223" name="Google Shape;223;p21"/>
          <p:cNvSpPr txBox="1"/>
          <p:nvPr/>
        </p:nvSpPr>
        <p:spPr>
          <a:xfrm>
            <a:off x="1524000" y="4884241"/>
            <a:ext cx="38100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State Streaming:</a:t>
            </a:r>
            <a:r>
              <a:rPr b="0" i="0" lang="en-US" sz="1650" u="none" cap="none" strike="noStrik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 Pushes "Thought Process" to the UI.</a:t>
            </a:r>
            <a:endParaRPr/>
          </a:p>
        </p:txBody>
      </p:sp>
      <p:pic>
        <p:nvPicPr>
          <p:cNvPr descr="image.png" id="224" name="Google Shape;224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43000" y="3162597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5" name="Google Shape;225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43000" y="4023419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6" name="Google Shape;226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43000" y="4884241"/>
            <a:ext cx="209550" cy="21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1" name="Google Shape;231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2" name="Google Shape;232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185987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2"/>
          <p:cNvSpPr txBox="1"/>
          <p:nvPr/>
        </p:nvSpPr>
        <p:spPr>
          <a:xfrm>
            <a:off x="571500" y="381000"/>
            <a:ext cx="11601450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Tech Spotlight: </a:t>
            </a:r>
            <a:r>
              <a:rPr b="1" i="0" lang="en-US" sz="36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MCP</a:t>
            </a:r>
            <a:endParaRPr/>
          </a:p>
        </p:txBody>
      </p:sp>
      <p:sp>
        <p:nvSpPr>
          <p:cNvPr id="234" name="Google Shape;234;p22"/>
          <p:cNvSpPr/>
          <p:nvPr/>
        </p:nvSpPr>
        <p:spPr>
          <a:xfrm>
            <a:off x="571500" y="1123950"/>
            <a:ext cx="1104900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2"/>
          <p:cNvSpPr txBox="1"/>
          <p:nvPr/>
        </p:nvSpPr>
        <p:spPr>
          <a:xfrm>
            <a:off x="571500" y="2490192"/>
            <a:ext cx="5500687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Model Context Protocol</a:t>
            </a:r>
            <a:endParaRPr/>
          </a:p>
        </p:txBody>
      </p:sp>
      <p:sp>
        <p:nvSpPr>
          <p:cNvPr id="236" name="Google Shape;236;p22"/>
          <p:cNvSpPr txBox="1"/>
          <p:nvPr/>
        </p:nvSpPr>
        <p:spPr>
          <a:xfrm>
            <a:off x="571500" y="2918817"/>
            <a:ext cx="523875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The "USB-C" for AI applications. A Linux Foundation standard for connecting AI models to data.</a:t>
            </a:r>
            <a:endParaRPr/>
          </a:p>
        </p:txBody>
      </p:sp>
      <p:pic>
        <p:nvPicPr>
          <p:cNvPr descr="image.png" id="237" name="Google Shape;237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91275" y="2195512"/>
            <a:ext cx="521970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2"/>
          <p:cNvSpPr txBox="1"/>
          <p:nvPr/>
        </p:nvSpPr>
        <p:spPr>
          <a:xfrm>
            <a:off x="1333500" y="3779639"/>
            <a:ext cx="44767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Solves the N×M integration problem.</a:t>
            </a:r>
            <a:endParaRPr/>
          </a:p>
        </p:txBody>
      </p:sp>
      <p:sp>
        <p:nvSpPr>
          <p:cNvPr id="239" name="Google Shape;239;p22"/>
          <p:cNvSpPr txBox="1"/>
          <p:nvPr/>
        </p:nvSpPr>
        <p:spPr>
          <a:xfrm>
            <a:off x="1333500" y="4305300"/>
            <a:ext cx="44767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Standardized Client-Host-Server architecture.</a:t>
            </a:r>
            <a:endParaRPr/>
          </a:p>
        </p:txBody>
      </p:sp>
      <p:sp>
        <p:nvSpPr>
          <p:cNvPr id="240" name="Google Shape;240;p22"/>
          <p:cNvSpPr txBox="1"/>
          <p:nvPr/>
        </p:nvSpPr>
        <p:spPr>
          <a:xfrm>
            <a:off x="1333500" y="4830960"/>
            <a:ext cx="447675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FastMCP:</a:t>
            </a:r>
            <a:r>
              <a:rPr b="0" i="0" lang="en-US" sz="1650" u="none" cap="none" strike="noStrik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 Define tools with simple Python decorators.</a:t>
            </a:r>
            <a:endParaRPr/>
          </a:p>
        </p:txBody>
      </p:sp>
      <p:pic>
        <p:nvPicPr>
          <p:cNvPr descr="image.png" id="241" name="Google Shape;241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52500" y="3779639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2" name="Google Shape;242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52500" y="4305300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3" name="Google Shape;243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52500" y="4830960"/>
            <a:ext cx="209550" cy="21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8" name="Google Shape;248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9" name="Google Shape;249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25303"/>
            <a:ext cx="3492549" cy="333136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0" name="Google Shape;250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425303"/>
            <a:ext cx="3492549" cy="333136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1" name="Google Shape;251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425303"/>
            <a:ext cx="3492549" cy="3331368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3"/>
          <p:cNvSpPr txBox="1"/>
          <p:nvPr/>
        </p:nvSpPr>
        <p:spPr>
          <a:xfrm>
            <a:off x="571500" y="381000"/>
            <a:ext cx="11601450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Tech Spotlight: </a:t>
            </a:r>
            <a:r>
              <a:rPr b="1" i="0" lang="en-US" sz="36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A2A Protocol</a:t>
            </a:r>
            <a:endParaRPr/>
          </a:p>
        </p:txBody>
      </p:sp>
      <p:sp>
        <p:nvSpPr>
          <p:cNvPr id="253" name="Google Shape;253;p23"/>
          <p:cNvSpPr/>
          <p:nvPr/>
        </p:nvSpPr>
        <p:spPr>
          <a:xfrm>
            <a:off x="571500" y="1123950"/>
            <a:ext cx="1104900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54" name="Google Shape;254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6775" y="2720578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23"/>
          <p:cNvSpPr txBox="1"/>
          <p:nvPr/>
        </p:nvSpPr>
        <p:spPr>
          <a:xfrm>
            <a:off x="866775" y="3482578"/>
            <a:ext cx="3047099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Discovery</a:t>
            </a:r>
            <a:endParaRPr/>
          </a:p>
        </p:txBody>
      </p:sp>
      <p:sp>
        <p:nvSpPr>
          <p:cNvPr id="256" name="Google Shape;256;p23"/>
          <p:cNvSpPr txBox="1"/>
          <p:nvPr/>
        </p:nvSpPr>
        <p:spPr>
          <a:xfrm>
            <a:off x="866775" y="3911203"/>
            <a:ext cx="2901999" cy="13406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Standardized way for the Supervisor to find available agents and understand their capabilities (Manifest).</a:t>
            </a:r>
            <a:endParaRPr/>
          </a:p>
        </p:txBody>
      </p:sp>
      <p:pic>
        <p:nvPicPr>
          <p:cNvPr descr="image.png" id="257" name="Google Shape;257;p2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45074" y="2720578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23"/>
          <p:cNvSpPr txBox="1"/>
          <p:nvPr/>
        </p:nvSpPr>
        <p:spPr>
          <a:xfrm>
            <a:off x="4645074" y="3482578"/>
            <a:ext cx="3047099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Handoff</a:t>
            </a:r>
            <a:endParaRPr/>
          </a:p>
        </p:txBody>
      </p:sp>
      <p:sp>
        <p:nvSpPr>
          <p:cNvPr id="259" name="Google Shape;259;p23"/>
          <p:cNvSpPr txBox="1"/>
          <p:nvPr/>
        </p:nvSpPr>
        <p:spPr>
          <a:xfrm>
            <a:off x="4645074" y="3911203"/>
            <a:ext cx="2901999" cy="13406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Protocol for passing context and tasks between agents, ensuring seamless collaboration.</a:t>
            </a:r>
            <a:endParaRPr/>
          </a:p>
        </p:txBody>
      </p:sp>
      <p:pic>
        <p:nvPicPr>
          <p:cNvPr descr="image.png" id="260" name="Google Shape;260;p2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23374" y="2720578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3"/>
          <p:cNvSpPr txBox="1"/>
          <p:nvPr/>
        </p:nvSpPr>
        <p:spPr>
          <a:xfrm>
            <a:off x="8423374" y="3482578"/>
            <a:ext cx="3047099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Identity</a:t>
            </a:r>
            <a:endParaRPr/>
          </a:p>
        </p:txBody>
      </p:sp>
      <p:sp>
        <p:nvSpPr>
          <p:cNvPr id="262" name="Google Shape;262;p23"/>
          <p:cNvSpPr txBox="1"/>
          <p:nvPr/>
        </p:nvSpPr>
        <p:spPr>
          <a:xfrm>
            <a:off x="8423374" y="3911203"/>
            <a:ext cx="2901999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Security layer ensuring verified communication between agents (Digital Passport).</a:t>
            </a:r>
            <a:endParaRPr/>
          </a:p>
        </p:txBody>
      </p:sp>
      <p:pic>
        <p:nvPicPr>
          <p:cNvPr descr="image.png" id="263" name="Google Shape;263;p2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09650" y="2892028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4" name="Google Shape;264;p2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816524" y="2892028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5" name="Google Shape;265;p23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609111" y="2892028"/>
            <a:ext cx="200025" cy="22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0" name="Google Shape;270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1" name="Google Shape;271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185987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24"/>
          <p:cNvSpPr txBox="1"/>
          <p:nvPr/>
        </p:nvSpPr>
        <p:spPr>
          <a:xfrm>
            <a:off x="571500" y="381000"/>
            <a:ext cx="11601450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AgentOps: </a:t>
            </a:r>
            <a:r>
              <a:rPr b="1" i="0" lang="en-US" sz="36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No Trace, No Merge</a:t>
            </a:r>
            <a:endParaRPr/>
          </a:p>
        </p:txBody>
      </p:sp>
      <p:sp>
        <p:nvSpPr>
          <p:cNvPr id="273" name="Google Shape;273;p24"/>
          <p:cNvSpPr/>
          <p:nvPr/>
        </p:nvSpPr>
        <p:spPr>
          <a:xfrm>
            <a:off x="571500" y="1123950"/>
            <a:ext cx="1104900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4"/>
          <p:cNvSpPr txBox="1"/>
          <p:nvPr/>
        </p:nvSpPr>
        <p:spPr>
          <a:xfrm>
            <a:off x="571500" y="2313086"/>
            <a:ext cx="5500687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Observability is Mandatory</a:t>
            </a:r>
            <a:endParaRPr/>
          </a:p>
        </p:txBody>
      </p:sp>
      <p:sp>
        <p:nvSpPr>
          <p:cNvPr id="275" name="Google Shape;275;p24"/>
          <p:cNvSpPr txBox="1"/>
          <p:nvPr/>
        </p:nvSpPr>
        <p:spPr>
          <a:xfrm>
            <a:off x="571500" y="2741711"/>
            <a:ext cx="523875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Unlike traditional software, Agents are non-deterministic. We cannot debug them without seeing their "thoughts".</a:t>
            </a:r>
            <a:endParaRPr/>
          </a:p>
        </p:txBody>
      </p:sp>
      <p:pic>
        <p:nvPicPr>
          <p:cNvPr descr="image.png" id="276" name="Google Shape;276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91275" y="2195512"/>
            <a:ext cx="521970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24"/>
          <p:cNvSpPr txBox="1"/>
          <p:nvPr/>
        </p:nvSpPr>
        <p:spPr>
          <a:xfrm>
            <a:off x="1333500" y="3621583"/>
            <a:ext cx="44767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Langfuse:</a:t>
            </a:r>
            <a:r>
              <a:rPr b="0" i="0" lang="en-US" sz="1650" u="none" cap="none" strike="noStrik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 Full trace of the reasoning chain.</a:t>
            </a:r>
            <a:endParaRPr/>
          </a:p>
        </p:txBody>
      </p:sp>
      <p:sp>
        <p:nvSpPr>
          <p:cNvPr id="278" name="Google Shape;278;p24"/>
          <p:cNvSpPr txBox="1"/>
          <p:nvPr/>
        </p:nvSpPr>
        <p:spPr>
          <a:xfrm>
            <a:off x="1333500" y="4147244"/>
            <a:ext cx="447675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LM as a Judge:</a:t>
            </a:r>
            <a:r>
              <a:rPr b="0" i="0" lang="en-US" sz="1650" u="none" cap="none" strike="noStrik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 Using AI to evaluate AI performance.</a:t>
            </a:r>
            <a:endParaRPr/>
          </a:p>
        </p:txBody>
      </p:sp>
      <p:sp>
        <p:nvSpPr>
          <p:cNvPr id="279" name="Google Shape;279;p24"/>
          <p:cNvSpPr txBox="1"/>
          <p:nvPr/>
        </p:nvSpPr>
        <p:spPr>
          <a:xfrm>
            <a:off x="1333500" y="5008066"/>
            <a:ext cx="447675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Compliance:</a:t>
            </a:r>
            <a:r>
              <a:rPr b="0" i="0" lang="en-US" sz="1650" u="none" cap="none" strike="noStrik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 All agents must emit standard traces.</a:t>
            </a:r>
            <a:endParaRPr/>
          </a:p>
        </p:txBody>
      </p:sp>
      <p:pic>
        <p:nvPicPr>
          <p:cNvPr descr="image.png" id="280" name="Google Shape;280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52500" y="3621583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1" name="Google Shape;281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52500" y="4147244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2" name="Google Shape;282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52500" y="5008066"/>
            <a:ext cx="209550" cy="21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7" name="Google Shape;287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8" name="Google Shape;288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954833"/>
            <a:ext cx="3492549" cy="227230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9" name="Google Shape;289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954833"/>
            <a:ext cx="3492549" cy="227230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0" name="Google Shape;290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954833"/>
            <a:ext cx="3492549" cy="2272307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25"/>
          <p:cNvSpPr txBox="1"/>
          <p:nvPr/>
        </p:nvSpPr>
        <p:spPr>
          <a:xfrm>
            <a:off x="571500" y="381000"/>
            <a:ext cx="11601450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Homework: </a:t>
            </a:r>
            <a:r>
              <a:rPr b="1" i="0" lang="en-US" sz="36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Prepare for Action</a:t>
            </a:r>
            <a:endParaRPr/>
          </a:p>
        </p:txBody>
      </p:sp>
      <p:sp>
        <p:nvSpPr>
          <p:cNvPr id="292" name="Google Shape;292;p25"/>
          <p:cNvSpPr/>
          <p:nvPr/>
        </p:nvSpPr>
        <p:spPr>
          <a:xfrm>
            <a:off x="571500" y="1123950"/>
            <a:ext cx="1104900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5"/>
          <p:cNvSpPr txBox="1"/>
          <p:nvPr/>
        </p:nvSpPr>
        <p:spPr>
          <a:xfrm>
            <a:off x="866775" y="3288208"/>
            <a:ext cx="3047099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Level 1: Setup</a:t>
            </a:r>
            <a:endParaRPr/>
          </a:p>
        </p:txBody>
      </p:sp>
      <p:sp>
        <p:nvSpPr>
          <p:cNvPr id="294" name="Google Shape;294;p25"/>
          <p:cNvSpPr txBox="1"/>
          <p:nvPr/>
        </p:nvSpPr>
        <p:spPr>
          <a:xfrm>
            <a:off x="866775" y="3716833"/>
            <a:ext cx="2901999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Ensure you have Git/Docker permissions. Read the M.A.S.K. Template documentation.</a:t>
            </a:r>
            <a:endParaRPr/>
          </a:p>
        </p:txBody>
      </p:sp>
      <p:sp>
        <p:nvSpPr>
          <p:cNvPr id="295" name="Google Shape;295;p25"/>
          <p:cNvSpPr txBox="1"/>
          <p:nvPr/>
        </p:nvSpPr>
        <p:spPr>
          <a:xfrm>
            <a:off x="4645074" y="3288208"/>
            <a:ext cx="3047099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Level 2: Script</a:t>
            </a:r>
            <a:endParaRPr/>
          </a:p>
        </p:txBody>
      </p:sp>
      <p:sp>
        <p:nvSpPr>
          <p:cNvPr id="296" name="Google Shape;296;p25"/>
          <p:cNvSpPr txBox="1"/>
          <p:nvPr/>
        </p:nvSpPr>
        <p:spPr>
          <a:xfrm>
            <a:off x="4645074" y="3716833"/>
            <a:ext cx="2901999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Write your "Director's Script". Define the </a:t>
            </a:r>
            <a:r>
              <a:rPr b="1" i="0" lang="en-US" sz="1650" u="none" cap="none" strike="noStrik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System Instructions</a:t>
            </a:r>
            <a:r>
              <a:rPr b="0" i="0" lang="en-US" sz="1650" u="none" cap="none" strike="noStrik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 and </a:t>
            </a:r>
            <a:r>
              <a:rPr b="1" i="0" lang="en-US" sz="1650" u="none" cap="none" strike="noStrik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Tools</a:t>
            </a:r>
            <a:r>
              <a:rPr b="0" i="0" lang="en-US" sz="1650" u="none" cap="none" strike="noStrik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 for your service.</a:t>
            </a:r>
            <a:endParaRPr/>
          </a:p>
        </p:txBody>
      </p:sp>
      <p:sp>
        <p:nvSpPr>
          <p:cNvPr id="297" name="Google Shape;297;p25"/>
          <p:cNvSpPr txBox="1"/>
          <p:nvPr/>
        </p:nvSpPr>
        <p:spPr>
          <a:xfrm>
            <a:off x="8423374" y="3288208"/>
            <a:ext cx="3047099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Level 3: Architect</a:t>
            </a:r>
            <a:endParaRPr/>
          </a:p>
        </p:txBody>
      </p:sp>
      <p:sp>
        <p:nvSpPr>
          <p:cNvPr id="298" name="Google Shape;298;p25"/>
          <p:cNvSpPr txBox="1"/>
          <p:nvPr/>
        </p:nvSpPr>
        <p:spPr>
          <a:xfrm>
            <a:off x="8423374" y="3716833"/>
            <a:ext cx="2901999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Design a cross-system workflow (e.g., Jira to Wiki) and map out the Supervisor logic.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03" name="Google Shape;303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26"/>
          <p:cNvSpPr txBox="1"/>
          <p:nvPr/>
        </p:nvSpPr>
        <p:spPr>
          <a:xfrm>
            <a:off x="295275" y="2021234"/>
            <a:ext cx="116014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Questions?</a:t>
            </a:r>
            <a:endParaRPr/>
          </a:p>
        </p:txBody>
      </p:sp>
      <p:sp>
        <p:nvSpPr>
          <p:cNvPr id="305" name="Google Shape;305;p26"/>
          <p:cNvSpPr txBox="1"/>
          <p:nvPr/>
        </p:nvSpPr>
        <p:spPr>
          <a:xfrm>
            <a:off x="571500" y="3316634"/>
            <a:ext cx="110490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Next Session: Hands-on Agent Development</a:t>
            </a:r>
            <a:endParaRPr/>
          </a:p>
        </p:txBody>
      </p:sp>
      <p:sp>
        <p:nvSpPr>
          <p:cNvPr id="306" name="Google Shape;306;p26"/>
          <p:cNvSpPr txBox="1"/>
          <p:nvPr/>
        </p:nvSpPr>
        <p:spPr>
          <a:xfrm>
            <a:off x="571500" y="4291905"/>
            <a:ext cx="11049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Let's Build the Future of DevOps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11" name="Google Shape;311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27"/>
          <p:cNvSpPr txBox="1"/>
          <p:nvPr/>
        </p:nvSpPr>
        <p:spPr>
          <a:xfrm>
            <a:off x="571500" y="120401"/>
            <a:ext cx="11601450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Image Sources</a:t>
            </a:r>
            <a:endParaRPr/>
          </a:p>
        </p:txBody>
      </p:sp>
      <p:sp>
        <p:nvSpPr>
          <p:cNvPr id="313" name="Google Shape;313;p27"/>
          <p:cNvSpPr/>
          <p:nvPr/>
        </p:nvSpPr>
        <p:spPr>
          <a:xfrm>
            <a:off x="571500" y="863351"/>
            <a:ext cx="1104900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27"/>
          <p:cNvSpPr/>
          <p:nvPr/>
        </p:nvSpPr>
        <p:spPr>
          <a:xfrm>
            <a:off x="571500" y="1444376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27"/>
          <p:cNvSpPr/>
          <p:nvPr/>
        </p:nvSpPr>
        <p:spPr>
          <a:xfrm>
            <a:off x="571500" y="2229147"/>
            <a:ext cx="11049000" cy="9828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27"/>
          <p:cNvSpPr/>
          <p:nvPr/>
        </p:nvSpPr>
        <p:spPr>
          <a:xfrm>
            <a:off x="571500" y="3212008"/>
            <a:ext cx="11049000" cy="9828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27"/>
          <p:cNvSpPr/>
          <p:nvPr/>
        </p:nvSpPr>
        <p:spPr>
          <a:xfrm>
            <a:off x="571500" y="4194869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27"/>
          <p:cNvSpPr/>
          <p:nvPr/>
        </p:nvSpPr>
        <p:spPr>
          <a:xfrm>
            <a:off x="571500" y="4979640"/>
            <a:ext cx="11049000" cy="9828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27"/>
          <p:cNvSpPr/>
          <p:nvPr/>
        </p:nvSpPr>
        <p:spPr>
          <a:xfrm>
            <a:off x="571500" y="221962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27"/>
          <p:cNvSpPr/>
          <p:nvPr/>
        </p:nvSpPr>
        <p:spPr>
          <a:xfrm>
            <a:off x="571500" y="221962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27"/>
          <p:cNvSpPr/>
          <p:nvPr/>
        </p:nvSpPr>
        <p:spPr>
          <a:xfrm>
            <a:off x="571500" y="3202483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27"/>
          <p:cNvSpPr/>
          <p:nvPr/>
        </p:nvSpPr>
        <p:spPr>
          <a:xfrm>
            <a:off x="571500" y="3202483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27"/>
          <p:cNvSpPr/>
          <p:nvPr/>
        </p:nvSpPr>
        <p:spPr>
          <a:xfrm>
            <a:off x="571500" y="4185344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27"/>
          <p:cNvSpPr/>
          <p:nvPr/>
        </p:nvSpPr>
        <p:spPr>
          <a:xfrm>
            <a:off x="571500" y="4185344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27"/>
          <p:cNvSpPr/>
          <p:nvPr/>
        </p:nvSpPr>
        <p:spPr>
          <a:xfrm>
            <a:off x="571500" y="497011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27"/>
          <p:cNvSpPr/>
          <p:nvPr/>
        </p:nvSpPr>
        <p:spPr>
          <a:xfrm>
            <a:off x="571500" y="497011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27"/>
          <p:cNvSpPr/>
          <p:nvPr/>
        </p:nvSpPr>
        <p:spPr>
          <a:xfrm>
            <a:off x="571500" y="5952976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27"/>
          <p:cNvSpPr/>
          <p:nvPr/>
        </p:nvSpPr>
        <p:spPr>
          <a:xfrm>
            <a:off x="571500" y="5952976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29" name="Google Shape;329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9380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27"/>
          <p:cNvSpPr txBox="1"/>
          <p:nvPr/>
        </p:nvSpPr>
        <p:spPr>
          <a:xfrm>
            <a:off x="1666875" y="1587251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https://media.istockphoto.com/id/185005100/photo/computer-network.jpg?s=612x612&amp;w=0&amp;k=20&amp;c=AEbk0ofw4pHyvSwqVCC5aIT3AsntoehWEY1gNNy5rcU=</a:t>
            </a:r>
            <a:endParaRPr/>
          </a:p>
        </p:txBody>
      </p:sp>
      <p:sp>
        <p:nvSpPr>
          <p:cNvPr id="331" name="Google Shape;331;p27"/>
          <p:cNvSpPr txBox="1"/>
          <p:nvPr/>
        </p:nvSpPr>
        <p:spPr>
          <a:xfrm>
            <a:off x="1666875" y="1832967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www.istockphoto.com</a:t>
            </a:r>
            <a:endParaRPr/>
          </a:p>
        </p:txBody>
      </p:sp>
      <p:pic>
        <p:nvPicPr>
          <p:cNvPr descr="image.png" id="332" name="Google Shape;332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47769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27"/>
          <p:cNvSpPr txBox="1"/>
          <p:nvPr/>
        </p:nvSpPr>
        <p:spPr>
          <a:xfrm>
            <a:off x="1666875" y="2372022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https://static.vecteezy.com/system/resources/previews/022/966/482/non_2x/futuristic-hud-interface-sci-fi-virtual-communication-display-layout-digital-hologram-screen-spaceship-control-panel-template-vector.jpg</a:t>
            </a:r>
            <a:endParaRPr/>
          </a:p>
        </p:txBody>
      </p:sp>
      <p:sp>
        <p:nvSpPr>
          <p:cNvPr id="334" name="Google Shape;334;p27"/>
          <p:cNvSpPr txBox="1"/>
          <p:nvPr/>
        </p:nvSpPr>
        <p:spPr>
          <a:xfrm>
            <a:off x="1666875" y="2815828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www.vecteezy.com</a:t>
            </a:r>
            <a:endParaRPr/>
          </a:p>
        </p:txBody>
      </p:sp>
      <p:pic>
        <p:nvPicPr>
          <p:cNvPr descr="image.png" id="335" name="Google Shape;335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460551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27"/>
          <p:cNvSpPr txBox="1"/>
          <p:nvPr/>
        </p:nvSpPr>
        <p:spPr>
          <a:xfrm>
            <a:off x="1666875" y="3354883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https://media.istockphoto.com/id/537281712/photo/director-chair-movie-clapper-and-megaphone-in-the-volumetric-li.jpg?s=612x612&amp;w=0&amp;k=20&amp;c=cTD0TEx7ZzJ6tZMvWT2GQHUnLZ1fbwGcTDkVseVj_t8=</a:t>
            </a:r>
            <a:endParaRPr/>
          </a:p>
        </p:txBody>
      </p:sp>
      <p:sp>
        <p:nvSpPr>
          <p:cNvPr id="337" name="Google Shape;337;p27"/>
          <p:cNvSpPr txBox="1"/>
          <p:nvPr/>
        </p:nvSpPr>
        <p:spPr>
          <a:xfrm>
            <a:off x="1666875" y="3798689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www.veracartolano.com</a:t>
            </a:r>
            <a:endParaRPr/>
          </a:p>
        </p:txBody>
      </p:sp>
      <p:pic>
        <p:nvPicPr>
          <p:cNvPr descr="image.png" id="338" name="Google Shape;338;p2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34429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27"/>
          <p:cNvSpPr txBox="1"/>
          <p:nvPr/>
        </p:nvSpPr>
        <p:spPr>
          <a:xfrm>
            <a:off x="1666875" y="4337744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https://img.freepik.com/premium-photo/abstract-network-with-glowing-nodes-connecting-lines-dark-background_1174990-199237.jpg</a:t>
            </a:r>
            <a:endParaRPr/>
          </a:p>
        </p:txBody>
      </p:sp>
      <p:sp>
        <p:nvSpPr>
          <p:cNvPr id="340" name="Google Shape;340;p27"/>
          <p:cNvSpPr txBox="1"/>
          <p:nvPr/>
        </p:nvSpPr>
        <p:spPr>
          <a:xfrm>
            <a:off x="1666875" y="4583459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www.freepik.com</a:t>
            </a:r>
            <a:endParaRPr/>
          </a:p>
        </p:txBody>
      </p:sp>
      <p:pic>
        <p:nvPicPr>
          <p:cNvPr descr="image.png" id="341" name="Google Shape;341;p2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5228183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27"/>
          <p:cNvSpPr txBox="1"/>
          <p:nvPr/>
        </p:nvSpPr>
        <p:spPr>
          <a:xfrm>
            <a:off x="1666875" y="5122515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https://media.istockphoto.com/id/2225968126/photo/python-code-dark-theme-ide-on-monitor-screen.jpg?s=612x612&amp;w=is&amp;k=20&amp;c=EIWHxbAacDMg-b14F6FJYfqmNYSFfqbQA0cCV1rXE0M=</a:t>
            </a:r>
            <a:endParaRPr/>
          </a:p>
        </p:txBody>
      </p:sp>
      <p:sp>
        <p:nvSpPr>
          <p:cNvPr id="343" name="Google Shape;343;p27"/>
          <p:cNvSpPr txBox="1"/>
          <p:nvPr/>
        </p:nvSpPr>
        <p:spPr>
          <a:xfrm>
            <a:off x="1666875" y="5566320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www.istockphoto.com</a:t>
            </a:r>
            <a:endParaRPr/>
          </a:p>
        </p:txBody>
      </p:sp>
      <p:pic>
        <p:nvPicPr>
          <p:cNvPr descr="image.png" id="344" name="Google Shape;344;p2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71500" y="6111924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27"/>
          <p:cNvSpPr txBox="1"/>
          <p:nvPr/>
        </p:nvSpPr>
        <p:spPr>
          <a:xfrm>
            <a:off x="1666875" y="6105376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https://cdn.dribbble.com/userupload/43507872/file/original-df7180b18e97f8487d50bd65cba0a013.png</a:t>
            </a:r>
            <a:endParaRPr/>
          </a:p>
        </p:txBody>
      </p:sp>
      <p:sp>
        <p:nvSpPr>
          <p:cNvPr id="346" name="Google Shape;346;p27"/>
          <p:cNvSpPr txBox="1"/>
          <p:nvPr/>
        </p:nvSpPr>
        <p:spPr>
          <a:xfrm>
            <a:off x="1666875" y="6351091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dribbble.com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